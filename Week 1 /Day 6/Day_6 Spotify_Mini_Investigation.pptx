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li C" userId="2d56919c7e39ca70" providerId="LiveId" clId="{37536911-A8A8-444C-A7A2-AAFB1ABDEC81}"/>
    <pc:docChg chg="delSld modSld sldOrd">
      <pc:chgData name="Anjali C" userId="2d56919c7e39ca70" providerId="LiveId" clId="{37536911-A8A8-444C-A7A2-AAFB1ABDEC81}" dt="2026-07-10T14:35:11.106" v="9" actId="2696"/>
      <pc:docMkLst>
        <pc:docMk/>
      </pc:docMkLst>
      <pc:sldChg chg="ord">
        <pc:chgData name="Anjali C" userId="2d56919c7e39ca70" providerId="LiveId" clId="{37536911-A8A8-444C-A7A2-AAFB1ABDEC81}" dt="2026-07-10T14:31:02.340" v="3"/>
        <pc:sldMkLst>
          <pc:docMk/>
          <pc:sldMk cId="0" sldId="257"/>
        </pc:sldMkLst>
      </pc:sldChg>
      <pc:sldChg chg="ord">
        <pc:chgData name="Anjali C" userId="2d56919c7e39ca70" providerId="LiveId" clId="{37536911-A8A8-444C-A7A2-AAFB1ABDEC81}" dt="2026-07-10T14:31:06.061" v="7"/>
        <pc:sldMkLst>
          <pc:docMk/>
          <pc:sldMk cId="0" sldId="258"/>
        </pc:sldMkLst>
      </pc:sldChg>
      <pc:sldChg chg="del mod modShow">
        <pc:chgData name="Anjali C" userId="2d56919c7e39ca70" providerId="LiveId" clId="{37536911-A8A8-444C-A7A2-AAFB1ABDEC81}" dt="2026-07-10T14:35:11.106" v="9" actId="2696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29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/ intro slide. This presentation is a capstone synthesis of everything the course covered, applied to one real, public company: Spotify.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OSINT investigation starts with a specific question (a PIR), not open-ended browsing. Here we're checking consistency of Spotify's public identity across official, technical, community, and legal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Sourced from Fortune (Apr 23 2026) and Tracxn. The profitability delay is a genuine intelligence finding, not just a number — it signals long-term strategic patience uncommon for a public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newsroom.spotify.com (Sep 30 2025) and Fortune (Apr 23 2026). Norström and Söderström had been running day-to-day operations as co-Presidents for years before the official title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github.com/spotify. Compare to Day 1's tiktoken example from OpenAI — same pattern of a company's internal tooling becoming quiet industry-wide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github.com/librespot-org and github.com/topics/spotify. Some tools in this space (ad-blockers, download tools) exist specifically to work around Spotify's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 footprint picture includes both what a company is accused of doing, and what's being done to it. Sources: SEC Form 6-K filings 2025-2026, Digital Music News (Jun 2026), Lawfold.com (May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and technical channels are consistent with each other, similar to what we found investigating Anthropic. The distinctive layer here is the third one: an active unofficial community whose existence is part of Spotify's footprint whether the company highlights it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findings summarize the investigation. Confidence: leadership and GitHub facts are HIGH confidence; legal outcomes are LOW confidence since all disputes are unresolved.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before Q&amp;A. Reinforces that the entire investigation stayed within public, ethically-sourced OSINT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68A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OSINT INVESTIGATION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Spotify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 digital-footprint &amp; open-source intelligence 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Mini Investigation &amp;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Method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answer, and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480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Spotify's public digital footprint look like — its people, its infrastructure, its online identity — and is that identity consistent across every channel we can check?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206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526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is a mature, 20-year-old public company (NYSE: SPOT) rather than an early-stage startup — chosen here for the depth and richness of its public footprint.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question (PIR) before collecting anything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3044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only: newsroom, GitHub, SEC filings, press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794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4096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every claim across at least two independent sources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892040"/>
            <a:ext cx="502920" cy="50292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4846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5148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facts into judgments, each with a confidence level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as of the 2026 public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10312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 worldwide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606040" cy="210312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subscribers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06040" cy="210312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606040" cy="210312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2006, Stockholm  ·  Public since 2018 (NYSE: SPOT)  ·  First profitable year: 2024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profitability took 18 years after founding — an unusually long runway that reflects a strategy of prioritizing user growth over short-term profit.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Footprint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0704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73152" cy="86868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Daniel Ek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Co-founder; now Executive Chairman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0" y="18470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until Jan 1,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60704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88920"/>
            <a:ext cx="73152" cy="86868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898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Lorentzon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898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0" y="28986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60704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840480"/>
            <a:ext cx="73152" cy="86868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50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Norström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39502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Co-President, Chief Business Officer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60704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892040"/>
            <a:ext cx="73152" cy="86868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001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Gustav Söderström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5001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50017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Co-President, Chief Product &amp; Tech Officer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0607040" cy="685800"/>
          </a:xfrm>
          <a:prstGeom prst="rect">
            <a:avLst/>
          </a:prstGeom>
          <a:solidFill>
            <a:srgbClr val="E9F8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035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8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the Jan 2026 CEO transition formalized a role split that had already existed for ~3 years — not a sudden change.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Footprint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public repositories — a long-running open-source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3566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542032" cy="5029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pedalboard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 library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6.2k+ stars — deep audio-engineering investment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828800"/>
            <a:ext cx="2542032" cy="3566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828800"/>
            <a:ext cx="2542032" cy="5029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basic-pitch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Audio-to-MIDI AI tool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2152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ML investment in music technology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42032" cy="3566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828800"/>
            <a:ext cx="2542032" cy="5029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27064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 pipeline (Scala)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27064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powers Discover Weekly-style features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4816" y="1828800"/>
            <a:ext cx="2542032" cy="3566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14816" y="1828800"/>
            <a:ext cx="2542032" cy="5029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8924544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luigi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51976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Workflow/pipeline management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51976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well beyond Spotify itself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68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several of these tools are now used by companies entirely unrelated to music streaming — Spotify has quietly become infrastructure for the broader data-engineering community, not just a music app.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Footprint Most Companies Don't Have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unofficial, parallel developer ecosystem Spotify does not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librespot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9385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reimplementation of Spotify's client protocol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71576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unofficial daemon/player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930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Spicetify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34930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customization and theming tool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607040" cy="155448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8463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most companies' footprints are shaped mainly by what they themselves publish. Spotify's footprint also includes a persistent, large-scale community built specifically around modifying, blocking, or bypassing parts of its own platform — an ongoing tension between the official product and its own user base.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Regulatory Footprint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both directions — allegations against Spotify, and by Spotify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0704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155448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Spotify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828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MLC Royalty Lawsuit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Alleges underpayment via 'bundled' Premium tier classification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60704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834640"/>
            <a:ext cx="155448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Spotify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9260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 Class 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Alleges data collected/monetized without proper consent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60704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931920"/>
            <a:ext cx="155448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Spotify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4023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Filtering Lawsuit (2026)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55080" y="4023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Alleges a March 2026 algorithm change suppressed small-catalog streams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60704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029200"/>
            <a:ext cx="1554480" cy="960120"/>
          </a:xfrm>
          <a:prstGeom prst="rect">
            <a:avLst/>
          </a:prstGeom>
          <a:solidFill>
            <a:srgbClr val="168A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292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Spotify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5120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Anna's Archive Lawsuit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55080" y="5120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+ labels suing a site allegedly scraping 86M audio files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Identity — Is the Story Consistent?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four independent channels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9601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newsroom / SEC filings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73152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82880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narrative: growth milestones, leadership continuity, 2024 profitability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291840" cy="960120"/>
          </a:xfrm>
          <a:prstGeom prst="rect">
            <a:avLst/>
          </a:prstGeom>
          <a:solidFill>
            <a:srgbClr val="168A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260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31920" y="2926080"/>
            <a:ext cx="73152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9260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narrative — genuine, long-running technical investment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291840" cy="960120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233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developer community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31920" y="4023360"/>
            <a:ext cx="73152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402336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identity Spotify doesn't control — tools that modify or bypass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3291840" cy="960120"/>
          </a:xfrm>
          <a:prstGeom prst="rect">
            <a:avLst/>
          </a:prstGeom>
          <a:solidFill>
            <a:srgbClr val="168A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06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/ legal coverage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31920" y="5120640"/>
            <a:ext cx="7315200" cy="960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512064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friction the official channels don't emphasize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214884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continuity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CEO transition formalized an existing arrangement rather than signaling instability.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212080" cy="214884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5508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Outsized technical reputation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55080" y="2880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(Luigi, Pedalboard) are used industry-wide, beyond music streaming entirely.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212080" cy="214884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unusual footprint layer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5257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semi-independent community builds tools around — and sometimes against — the official platform.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977640"/>
            <a:ext cx="5212080" cy="2148840"/>
          </a:xfrm>
          <a:prstGeom prst="rect">
            <a:avLst/>
          </a:prstGeom>
          <a:solidFill>
            <a:srgbClr val="1E1E2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55080" y="4846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Two-directional legal exposure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5257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faces royalty/privacy claims, while itself pursuing claims against data scrapers.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&amp; Ethics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44805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8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Levels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051560" cy="365760"/>
          </a:xfrm>
          <a:prstGeom prst="rect">
            <a:avLst/>
          </a:prstGeom>
          <a:solidFill>
            <a:srgbClr val="168A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Leadership, GitHub statistics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1051560" cy="365760"/>
          </a:xfrm>
          <a:prstGeom prst="rect">
            <a:avLst/>
          </a:prstGeom>
          <a:solidFill>
            <a:srgbClr val="C997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54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1089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exposure figures (reported, not independently confirmed)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10515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4069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ongoing lawsuits — all four are unresolved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5212080" cy="4480560"/>
          </a:xfrm>
          <a:prstGeom prst="rect">
            <a:avLst/>
          </a:prstGeom>
          <a:solidFill>
            <a:srgbClr val="191414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B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Statement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in this presentation came from Spotify's own public announcements, its public GitHub organization, SEC regulatory filings, and mainstream or trade news coverage.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private, leaked, or authentication-gated material was used. Metadata analysis was discussed conceptually only.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1108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Anjali C</cp:lastModifiedBy>
  <cp:revision>1</cp:revision>
  <dcterms:created xsi:type="dcterms:W3CDTF">2026-07-10T01:13:52Z</dcterms:created>
  <dcterms:modified xsi:type="dcterms:W3CDTF">2026-07-10T15:35:14Z</dcterms:modified>
</cp:coreProperties>
</file>